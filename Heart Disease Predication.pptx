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lice" panose="020B0604020202020204" charset="0"/>
      <p:regular r:id="rId10"/>
    </p:embeddedFont>
    <p:embeddedFont>
      <p:font typeface="Cooper BT Bold" panose="020B0604020202020204" charset="0"/>
      <p:regular r:id="rId11"/>
    </p:embeddedFont>
    <p:embeddedFont>
      <p:font typeface="Cooper BT Light" panose="020B0604020202020204" charset="0"/>
      <p:regular r:id="rId12"/>
    </p:embeddedFont>
    <p:embeddedFont>
      <p:font typeface="Kingred Youth" panose="020B0604020202020204" charset="0"/>
      <p:regular r:id="rId13"/>
    </p:embeddedFont>
    <p:embeddedFont>
      <p:font typeface="Margin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40" d="100"/>
          <a:sy n="40" d="100"/>
        </p:scale>
        <p:origin x="900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svg"/><Relationship Id="rId10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svg"/><Relationship Id="rId10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svg"/><Relationship Id="rId10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5.sv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11" Type="http://schemas.openxmlformats.org/officeDocument/2006/relationships/image" Target="../media/image1.png"/><Relationship Id="rId5" Type="http://schemas.openxmlformats.org/officeDocument/2006/relationships/image" Target="../media/image2.png"/><Relationship Id="rId10" Type="http://schemas.openxmlformats.org/officeDocument/2006/relationships/image" Target="../media/image9.svg"/><Relationship Id="rId4" Type="http://schemas.openxmlformats.org/officeDocument/2006/relationships/hyperlink" Target="https://www.dataquest.io/blog/predicting-heart-disease-with-machine-learning/" TargetMode="External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svg"/><Relationship Id="rId10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svg"/><Relationship Id="rId10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76380" y="-1393716"/>
            <a:ext cx="3467620" cy="3789749"/>
          </a:xfrm>
          <a:custGeom>
            <a:avLst/>
            <a:gdLst/>
            <a:ahLst/>
            <a:cxnLst/>
            <a:rect l="l" t="t" r="r" b="b"/>
            <a:pathLst>
              <a:path w="3467620" h="3789749">
                <a:moveTo>
                  <a:pt x="0" y="0"/>
                </a:moveTo>
                <a:lnTo>
                  <a:pt x="3467620" y="0"/>
                </a:lnTo>
                <a:lnTo>
                  <a:pt x="3467620" y="3789749"/>
                </a:lnTo>
                <a:lnTo>
                  <a:pt x="0" y="37897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831445" y="343584"/>
            <a:ext cx="12068987" cy="4715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40"/>
              </a:lnSpc>
            </a:pPr>
            <a:r>
              <a:rPr lang="en-US" sz="18598" dirty="0">
                <a:solidFill>
                  <a:srgbClr val="A80B29"/>
                </a:solidFill>
                <a:latin typeface="Kingred Youth"/>
                <a:ea typeface="Kingred Youth"/>
                <a:cs typeface="Kingred Youth"/>
                <a:sym typeface="Kingred Youth"/>
              </a:rPr>
              <a:t>Heart Disease Predication</a:t>
            </a:r>
          </a:p>
        </p:txBody>
      </p:sp>
      <p:sp>
        <p:nvSpPr>
          <p:cNvPr id="4" name="Freeform 4"/>
          <p:cNvSpPr/>
          <p:nvPr/>
        </p:nvSpPr>
        <p:spPr>
          <a:xfrm>
            <a:off x="0" y="5413581"/>
            <a:ext cx="4317349" cy="6648878"/>
          </a:xfrm>
          <a:custGeom>
            <a:avLst/>
            <a:gdLst/>
            <a:ahLst/>
            <a:cxnLst/>
            <a:rect l="l" t="t" r="r" b="b"/>
            <a:pathLst>
              <a:path w="4317349" h="6648878">
                <a:moveTo>
                  <a:pt x="0" y="0"/>
                </a:moveTo>
                <a:lnTo>
                  <a:pt x="4317349" y="0"/>
                </a:lnTo>
                <a:lnTo>
                  <a:pt x="4317349" y="6648879"/>
                </a:lnTo>
                <a:lnTo>
                  <a:pt x="0" y="66488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410287" y="-190837"/>
            <a:ext cx="3277827" cy="3627374"/>
          </a:xfrm>
          <a:custGeom>
            <a:avLst/>
            <a:gdLst/>
            <a:ahLst/>
            <a:cxnLst/>
            <a:rect l="l" t="t" r="r" b="b"/>
            <a:pathLst>
              <a:path w="3277827" h="3627374">
                <a:moveTo>
                  <a:pt x="0" y="0"/>
                </a:moveTo>
                <a:lnTo>
                  <a:pt x="3277827" y="0"/>
                </a:lnTo>
                <a:lnTo>
                  <a:pt x="3277827" y="3627374"/>
                </a:lnTo>
                <a:lnTo>
                  <a:pt x="0" y="36273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558699" y="6246701"/>
            <a:ext cx="4499576" cy="6313181"/>
          </a:xfrm>
          <a:custGeom>
            <a:avLst/>
            <a:gdLst/>
            <a:ahLst/>
            <a:cxnLst/>
            <a:rect l="l" t="t" r="r" b="b"/>
            <a:pathLst>
              <a:path w="4499576" h="6313181">
                <a:moveTo>
                  <a:pt x="0" y="0"/>
                </a:moveTo>
                <a:lnTo>
                  <a:pt x="4499577" y="0"/>
                </a:lnTo>
                <a:lnTo>
                  <a:pt x="4499577" y="6313181"/>
                </a:lnTo>
                <a:lnTo>
                  <a:pt x="0" y="631318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900432" y="-1147497"/>
            <a:ext cx="4570790" cy="6172200"/>
          </a:xfrm>
          <a:custGeom>
            <a:avLst/>
            <a:gdLst/>
            <a:ahLst/>
            <a:cxnLst/>
            <a:rect l="l" t="t" r="r" b="b"/>
            <a:pathLst>
              <a:path w="4570790" h="6172200">
                <a:moveTo>
                  <a:pt x="0" y="0"/>
                </a:moveTo>
                <a:lnTo>
                  <a:pt x="4570790" y="0"/>
                </a:lnTo>
                <a:lnTo>
                  <a:pt x="457079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619061" y="8529086"/>
            <a:ext cx="3386135" cy="4689397"/>
          </a:xfrm>
          <a:custGeom>
            <a:avLst/>
            <a:gdLst/>
            <a:ahLst/>
            <a:cxnLst/>
            <a:rect l="l" t="t" r="r" b="b"/>
            <a:pathLst>
              <a:path w="3386135" h="4689397">
                <a:moveTo>
                  <a:pt x="0" y="0"/>
                </a:moveTo>
                <a:lnTo>
                  <a:pt x="3386135" y="0"/>
                </a:lnTo>
                <a:lnTo>
                  <a:pt x="3386135" y="4689397"/>
                </a:lnTo>
                <a:lnTo>
                  <a:pt x="0" y="468939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42000"/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729301" y="9397366"/>
            <a:ext cx="8829398" cy="59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lang="en-US" sz="3450" b="1" spc="37">
                <a:solidFill>
                  <a:srgbClr val="004B77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Presentation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665701" y="-693420"/>
            <a:ext cx="2638852" cy="2920259"/>
          </a:xfrm>
          <a:custGeom>
            <a:avLst/>
            <a:gdLst/>
            <a:ahLst/>
            <a:cxnLst/>
            <a:rect l="l" t="t" r="r" b="b"/>
            <a:pathLst>
              <a:path w="2638852" h="2920259">
                <a:moveTo>
                  <a:pt x="0" y="0"/>
                </a:moveTo>
                <a:lnTo>
                  <a:pt x="2638852" y="0"/>
                </a:lnTo>
                <a:lnTo>
                  <a:pt x="2638852" y="2920259"/>
                </a:lnTo>
                <a:lnTo>
                  <a:pt x="0" y="29202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4317349" y="5701674"/>
            <a:ext cx="9241350" cy="3701618"/>
            <a:chOff x="0" y="0"/>
            <a:chExt cx="2009749" cy="79399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09749" cy="793993"/>
            </a:xfrm>
            <a:custGeom>
              <a:avLst/>
              <a:gdLst/>
              <a:ahLst/>
              <a:cxnLst/>
              <a:rect l="l" t="t" r="r" b="b"/>
              <a:pathLst>
                <a:path w="2009749" h="793993">
                  <a:moveTo>
                    <a:pt x="53458" y="0"/>
                  </a:moveTo>
                  <a:lnTo>
                    <a:pt x="1956292" y="0"/>
                  </a:lnTo>
                  <a:cubicBezTo>
                    <a:pt x="1985815" y="0"/>
                    <a:pt x="2009749" y="23934"/>
                    <a:pt x="2009749" y="53458"/>
                  </a:cubicBezTo>
                  <a:lnTo>
                    <a:pt x="2009749" y="740535"/>
                  </a:lnTo>
                  <a:cubicBezTo>
                    <a:pt x="2009749" y="770059"/>
                    <a:pt x="1985815" y="793993"/>
                    <a:pt x="1956292" y="793993"/>
                  </a:cubicBezTo>
                  <a:lnTo>
                    <a:pt x="53458" y="793993"/>
                  </a:lnTo>
                  <a:cubicBezTo>
                    <a:pt x="23934" y="793993"/>
                    <a:pt x="0" y="770059"/>
                    <a:pt x="0" y="740535"/>
                  </a:cubicBezTo>
                  <a:lnTo>
                    <a:pt x="0" y="53458"/>
                  </a:lnTo>
                  <a:cubicBezTo>
                    <a:pt x="0" y="23934"/>
                    <a:pt x="23934" y="0"/>
                    <a:pt x="53458" y="0"/>
                  </a:cubicBezTo>
                  <a:close/>
                </a:path>
              </a:pathLst>
            </a:custGeom>
            <a:solidFill>
              <a:srgbClr val="004B77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009749" cy="832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060815" y="5701674"/>
            <a:ext cx="8655185" cy="44078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822"/>
              </a:lnSpc>
            </a:pPr>
            <a:r>
              <a:rPr lang="en-US" sz="4158" dirty="0">
                <a:solidFill>
                  <a:srgbClr val="DAF1FF"/>
                </a:solidFill>
                <a:latin typeface="Alice"/>
                <a:ea typeface="Alice"/>
                <a:cs typeface="Alice"/>
                <a:sym typeface="Alice"/>
              </a:rPr>
              <a:t>NAME        :MD.HAROON</a:t>
            </a:r>
          </a:p>
          <a:p>
            <a:pPr algn="just">
              <a:lnSpc>
                <a:spcPts val="5822"/>
              </a:lnSpc>
            </a:pPr>
            <a:r>
              <a:rPr lang="en-US" sz="4158" dirty="0">
                <a:solidFill>
                  <a:srgbClr val="DAF1FF"/>
                </a:solidFill>
                <a:latin typeface="Alice"/>
                <a:ea typeface="Alice"/>
                <a:cs typeface="Alice"/>
                <a:sym typeface="Alice"/>
              </a:rPr>
              <a:t>CLASS        :1CSE31</a:t>
            </a:r>
          </a:p>
          <a:p>
            <a:pPr algn="just">
              <a:lnSpc>
                <a:spcPts val="5822"/>
              </a:lnSpc>
            </a:pPr>
            <a:r>
              <a:rPr lang="en-US" sz="4158" dirty="0">
                <a:solidFill>
                  <a:srgbClr val="DAF1FF"/>
                </a:solidFill>
                <a:latin typeface="Alice"/>
                <a:ea typeface="Alice"/>
                <a:cs typeface="Alice"/>
                <a:sym typeface="Alice"/>
              </a:rPr>
              <a:t>ROLL NO  :25SCS1003001009</a:t>
            </a:r>
          </a:p>
          <a:p>
            <a:pPr algn="just">
              <a:lnSpc>
                <a:spcPts val="5822"/>
              </a:lnSpc>
            </a:pPr>
            <a:r>
              <a:rPr lang="en-US" sz="4158" dirty="0">
                <a:solidFill>
                  <a:srgbClr val="DAF1FF"/>
                </a:solidFill>
                <a:latin typeface="Alice"/>
                <a:ea typeface="Alice"/>
                <a:cs typeface="Alice"/>
                <a:sym typeface="Alice"/>
              </a:rPr>
              <a:t>TEACHER :MR RAMVATH GANESH</a:t>
            </a:r>
          </a:p>
          <a:p>
            <a:pPr algn="just">
              <a:lnSpc>
                <a:spcPts val="5822"/>
              </a:lnSpc>
            </a:pPr>
            <a:r>
              <a:rPr lang="en-US" sz="4158" dirty="0">
                <a:solidFill>
                  <a:srgbClr val="DAF1FF"/>
                </a:solidFill>
                <a:latin typeface="Alice"/>
                <a:ea typeface="Alice"/>
                <a:cs typeface="Alice"/>
                <a:sym typeface="Alice"/>
              </a:rPr>
              <a:t>ACADEMIC YEAR :2026</a:t>
            </a:r>
          </a:p>
          <a:p>
            <a:pPr algn="just">
              <a:lnSpc>
                <a:spcPts val="5822"/>
              </a:lnSpc>
              <a:spcBef>
                <a:spcPct val="0"/>
              </a:spcBef>
            </a:pPr>
            <a:endParaRPr lang="en-US" sz="4158" dirty="0">
              <a:solidFill>
                <a:srgbClr val="DAF1FF"/>
              </a:solidFill>
              <a:latin typeface="Alice"/>
              <a:ea typeface="Alice"/>
              <a:cs typeface="Alice"/>
              <a:sym typeface="Alic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85241" y="2056385"/>
            <a:ext cx="10517519" cy="87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u="sng" dirty="0">
                <a:solidFill>
                  <a:srgbClr val="004B77"/>
                </a:solidFill>
                <a:latin typeface="Margin"/>
                <a:ea typeface="Margin"/>
                <a:cs typeface="Margin"/>
                <a:sym typeface="Margin"/>
              </a:rPr>
              <a:t>Project Overview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230054" y="2917269"/>
            <a:ext cx="7795129" cy="4772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10"/>
              </a:lnSpc>
            </a:pPr>
            <a:r>
              <a:rPr lang="en-US" sz="3364" spc="37" dirty="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Heart disease is a leading global killer, affecting millions yearly. </a:t>
            </a:r>
            <a:r>
              <a:rPr lang="en-US" sz="3364" spc="37" dirty="0">
                <a:solidFill>
                  <a:srgbClr val="000000"/>
                </a:solidFill>
                <a:highlight>
                  <a:srgbClr val="FF0000"/>
                </a:highlight>
                <a:latin typeface="Cooper BT Light"/>
                <a:ea typeface="Cooper BT Light"/>
                <a:cs typeface="Cooper BT Light"/>
                <a:sym typeface="Cooper BT Light"/>
              </a:rPr>
              <a:t>Early prediction saves lives but requires accurate</a:t>
            </a:r>
            <a:r>
              <a:rPr lang="en-US" sz="3364" spc="37" dirty="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, </a:t>
            </a:r>
            <a:r>
              <a:rPr lang="en-US" sz="3364" spc="37" dirty="0">
                <a:solidFill>
                  <a:srgbClr val="000000"/>
                </a:solidFill>
                <a:highlight>
                  <a:srgbClr val="FF0000"/>
                </a:highlight>
                <a:latin typeface="Cooper BT Light"/>
                <a:ea typeface="Cooper BT Light"/>
                <a:cs typeface="Cooper BT Light"/>
                <a:sym typeface="Cooper BT Light"/>
              </a:rPr>
              <a:t>accessible tools</a:t>
            </a:r>
            <a:r>
              <a:rPr lang="en-US" sz="3364" spc="37" dirty="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. Your model uses machine learning on patient data (age, cholesterol, blood pressure, etc.) to predict risk with high accuracy, making healthcare proactive.</a:t>
            </a:r>
          </a:p>
        </p:txBody>
      </p:sp>
      <p:sp>
        <p:nvSpPr>
          <p:cNvPr id="4" name="Freeform 4"/>
          <p:cNvSpPr/>
          <p:nvPr/>
        </p:nvSpPr>
        <p:spPr>
          <a:xfrm>
            <a:off x="9241350" y="7436716"/>
            <a:ext cx="4317349" cy="6648878"/>
          </a:xfrm>
          <a:custGeom>
            <a:avLst/>
            <a:gdLst/>
            <a:ahLst/>
            <a:cxnLst/>
            <a:rect l="l" t="t" r="r" b="b"/>
            <a:pathLst>
              <a:path w="4317349" h="6648878">
                <a:moveTo>
                  <a:pt x="0" y="0"/>
                </a:moveTo>
                <a:lnTo>
                  <a:pt x="4317349" y="0"/>
                </a:lnTo>
                <a:lnTo>
                  <a:pt x="4317349" y="6648878"/>
                </a:lnTo>
                <a:lnTo>
                  <a:pt x="0" y="66488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00159" y="6445097"/>
            <a:ext cx="3718283" cy="4114800"/>
          </a:xfrm>
          <a:custGeom>
            <a:avLst/>
            <a:gdLst/>
            <a:ahLst/>
            <a:cxnLst/>
            <a:rect l="l" t="t" r="r" b="b"/>
            <a:pathLst>
              <a:path w="3718283" h="4114800">
                <a:moveTo>
                  <a:pt x="0" y="0"/>
                </a:moveTo>
                <a:lnTo>
                  <a:pt x="3718282" y="0"/>
                </a:lnTo>
                <a:lnTo>
                  <a:pt x="37182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63994" y="2932660"/>
            <a:ext cx="4499576" cy="6313181"/>
          </a:xfrm>
          <a:custGeom>
            <a:avLst/>
            <a:gdLst/>
            <a:ahLst/>
            <a:cxnLst/>
            <a:rect l="l" t="t" r="r" b="b"/>
            <a:pathLst>
              <a:path w="4499576" h="6313181">
                <a:moveTo>
                  <a:pt x="0" y="0"/>
                </a:moveTo>
                <a:lnTo>
                  <a:pt x="4499576" y="0"/>
                </a:lnTo>
                <a:lnTo>
                  <a:pt x="4499576" y="6313181"/>
                </a:lnTo>
                <a:lnTo>
                  <a:pt x="0" y="63131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002605" y="-859261"/>
            <a:ext cx="4570790" cy="6172200"/>
          </a:xfrm>
          <a:custGeom>
            <a:avLst/>
            <a:gdLst/>
            <a:ahLst/>
            <a:cxnLst/>
            <a:rect l="l" t="t" r="r" b="b"/>
            <a:pathLst>
              <a:path w="4570790" h="6172200">
                <a:moveTo>
                  <a:pt x="0" y="0"/>
                </a:moveTo>
                <a:lnTo>
                  <a:pt x="4570790" y="0"/>
                </a:lnTo>
                <a:lnTo>
                  <a:pt x="457079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665278" y="-1887961"/>
            <a:ext cx="3765042" cy="4114800"/>
          </a:xfrm>
          <a:custGeom>
            <a:avLst/>
            <a:gdLst/>
            <a:ahLst/>
            <a:cxnLst/>
            <a:rect l="l" t="t" r="r" b="b"/>
            <a:pathLst>
              <a:path w="3765042" h="4114800">
                <a:moveTo>
                  <a:pt x="0" y="0"/>
                </a:moveTo>
                <a:lnTo>
                  <a:pt x="3765042" y="0"/>
                </a:lnTo>
                <a:lnTo>
                  <a:pt x="37650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1693068" y="-1756737"/>
            <a:ext cx="3386135" cy="4689397"/>
          </a:xfrm>
          <a:custGeom>
            <a:avLst/>
            <a:gdLst/>
            <a:ahLst/>
            <a:cxnLst/>
            <a:rect l="l" t="t" r="r" b="b"/>
            <a:pathLst>
              <a:path w="3386135" h="4689397">
                <a:moveTo>
                  <a:pt x="0" y="0"/>
                </a:moveTo>
                <a:lnTo>
                  <a:pt x="3386136" y="0"/>
                </a:lnTo>
                <a:lnTo>
                  <a:pt x="3386136" y="4689397"/>
                </a:lnTo>
                <a:lnTo>
                  <a:pt x="0" y="468939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42000"/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945785" y="8031882"/>
            <a:ext cx="2638852" cy="2920259"/>
          </a:xfrm>
          <a:custGeom>
            <a:avLst/>
            <a:gdLst/>
            <a:ahLst/>
            <a:cxnLst/>
            <a:rect l="l" t="t" r="r" b="b"/>
            <a:pathLst>
              <a:path w="2638852" h="2920259">
                <a:moveTo>
                  <a:pt x="0" y="0"/>
                </a:moveTo>
                <a:lnTo>
                  <a:pt x="2638853" y="0"/>
                </a:lnTo>
                <a:lnTo>
                  <a:pt x="2638853" y="2920259"/>
                </a:lnTo>
                <a:lnTo>
                  <a:pt x="0" y="2920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95481" y="2033001"/>
            <a:ext cx="6545941" cy="87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u="sng" dirty="0">
                <a:solidFill>
                  <a:srgbClr val="004B77"/>
                </a:solidFill>
                <a:latin typeface="Margin"/>
                <a:ea typeface="Margin"/>
                <a:cs typeface="Margin"/>
                <a:sym typeface="Margin"/>
              </a:rPr>
              <a:t>Problem Statement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592164" y="4020183"/>
            <a:ext cx="8147073" cy="53422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81443" lvl="1" indent="-457200" algn="l">
              <a:lnSpc>
                <a:spcPts val="4205"/>
              </a:lnSpc>
              <a:buFont typeface="Wingdings" panose="05000000000000000000" pitchFamily="2" charset="2"/>
              <a:buChar char="q"/>
            </a:pPr>
            <a:r>
              <a:rPr lang="en-US" sz="3300" b="1" spc="33" dirty="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Heart disease: </a:t>
            </a:r>
            <a:r>
              <a:rPr lang="en-US" sz="3300" spc="33" dirty="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#1 global killer (17.9M deaths/year).</a:t>
            </a:r>
          </a:p>
          <a:p>
            <a:pPr marL="781443" lvl="1" indent="-457200" algn="l">
              <a:lnSpc>
                <a:spcPts val="4205"/>
              </a:lnSpc>
              <a:buFont typeface="Wingdings" panose="05000000000000000000" pitchFamily="2" charset="2"/>
              <a:buChar char="q"/>
            </a:pPr>
            <a:r>
              <a:rPr lang="en-US" sz="3300" spc="33" dirty="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Early detection saves lives, but traditional methods are costly/slow.</a:t>
            </a:r>
          </a:p>
          <a:p>
            <a:pPr marL="781443" lvl="1" indent="-457200" algn="l">
              <a:lnSpc>
                <a:spcPts val="4205"/>
              </a:lnSpc>
              <a:buFont typeface="Wingdings" panose="05000000000000000000" pitchFamily="2" charset="2"/>
              <a:buChar char="q"/>
            </a:pPr>
            <a:r>
              <a:rPr lang="en-US" sz="3300" b="1" spc="33" dirty="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ML Solution: </a:t>
            </a:r>
            <a:r>
              <a:rPr lang="en-US" sz="3300" spc="33" dirty="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Predict risk from patient data (age, BP, cholesterol) with 85%+ accuracy.</a:t>
            </a:r>
          </a:p>
          <a:p>
            <a:pPr marL="781443" lvl="1" indent="-457200" algn="l">
              <a:lnSpc>
                <a:spcPts val="4205"/>
              </a:lnSpc>
              <a:buFont typeface="Wingdings" panose="05000000000000000000" pitchFamily="2" charset="2"/>
              <a:buChar char="q"/>
            </a:pPr>
            <a:r>
              <a:rPr lang="en-US" sz="3300" b="1" spc="33" dirty="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Include stat graphic: </a:t>
            </a:r>
            <a:r>
              <a:rPr lang="en-US" sz="3300" spc="33" dirty="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"1 in 3 deaths from heart issues.​</a:t>
            </a:r>
          </a:p>
          <a:p>
            <a:pPr algn="l">
              <a:lnSpc>
                <a:spcPts val="4205"/>
              </a:lnSpc>
            </a:pPr>
            <a:endParaRPr lang="en-US" sz="3300" spc="33" dirty="0">
              <a:solidFill>
                <a:srgbClr val="000000"/>
              </a:solidFill>
              <a:latin typeface="Cooper BT Light"/>
              <a:ea typeface="Cooper BT Light"/>
              <a:cs typeface="Cooper BT Light"/>
              <a:sym typeface="Cooper BT Light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2768094" y="3366860"/>
            <a:ext cx="4317349" cy="6648878"/>
          </a:xfrm>
          <a:custGeom>
            <a:avLst/>
            <a:gdLst/>
            <a:ahLst/>
            <a:cxnLst/>
            <a:rect l="l" t="t" r="r" b="b"/>
            <a:pathLst>
              <a:path w="4317349" h="6648878">
                <a:moveTo>
                  <a:pt x="0" y="0"/>
                </a:moveTo>
                <a:lnTo>
                  <a:pt x="4317349" y="0"/>
                </a:lnTo>
                <a:lnTo>
                  <a:pt x="4317349" y="6648879"/>
                </a:lnTo>
                <a:lnTo>
                  <a:pt x="0" y="66488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950189" y="-456415"/>
            <a:ext cx="3718283" cy="4114800"/>
          </a:xfrm>
          <a:custGeom>
            <a:avLst/>
            <a:gdLst/>
            <a:ahLst/>
            <a:cxnLst/>
            <a:rect l="l" t="t" r="r" b="b"/>
            <a:pathLst>
              <a:path w="3718283" h="4114800">
                <a:moveTo>
                  <a:pt x="0" y="0"/>
                </a:moveTo>
                <a:lnTo>
                  <a:pt x="3718283" y="0"/>
                </a:lnTo>
                <a:lnTo>
                  <a:pt x="37182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558699" y="6246701"/>
            <a:ext cx="4499576" cy="6313181"/>
          </a:xfrm>
          <a:custGeom>
            <a:avLst/>
            <a:gdLst/>
            <a:ahLst/>
            <a:cxnLst/>
            <a:rect l="l" t="t" r="r" b="b"/>
            <a:pathLst>
              <a:path w="4499576" h="6313181">
                <a:moveTo>
                  <a:pt x="0" y="0"/>
                </a:moveTo>
                <a:lnTo>
                  <a:pt x="4499577" y="0"/>
                </a:lnTo>
                <a:lnTo>
                  <a:pt x="4499577" y="6313181"/>
                </a:lnTo>
                <a:lnTo>
                  <a:pt x="0" y="63131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002605" y="-859261"/>
            <a:ext cx="4570790" cy="6172200"/>
          </a:xfrm>
          <a:custGeom>
            <a:avLst/>
            <a:gdLst/>
            <a:ahLst/>
            <a:cxnLst/>
            <a:rect l="l" t="t" r="r" b="b"/>
            <a:pathLst>
              <a:path w="4570790" h="6172200">
                <a:moveTo>
                  <a:pt x="0" y="0"/>
                </a:moveTo>
                <a:lnTo>
                  <a:pt x="4570790" y="0"/>
                </a:lnTo>
                <a:lnTo>
                  <a:pt x="457079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676380" y="-2057400"/>
            <a:ext cx="3765042" cy="4114800"/>
          </a:xfrm>
          <a:custGeom>
            <a:avLst/>
            <a:gdLst/>
            <a:ahLst/>
            <a:cxnLst/>
            <a:rect l="l" t="t" r="r" b="b"/>
            <a:pathLst>
              <a:path w="3765042" h="4114800">
                <a:moveTo>
                  <a:pt x="0" y="0"/>
                </a:moveTo>
                <a:lnTo>
                  <a:pt x="3765042" y="0"/>
                </a:lnTo>
                <a:lnTo>
                  <a:pt x="37650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1227461" y="5870501"/>
            <a:ext cx="3386135" cy="4689397"/>
          </a:xfrm>
          <a:custGeom>
            <a:avLst/>
            <a:gdLst/>
            <a:ahLst/>
            <a:cxnLst/>
            <a:rect l="l" t="t" r="r" b="b"/>
            <a:pathLst>
              <a:path w="3386135" h="4689397">
                <a:moveTo>
                  <a:pt x="0" y="0"/>
                </a:moveTo>
                <a:lnTo>
                  <a:pt x="3386136" y="0"/>
                </a:lnTo>
                <a:lnTo>
                  <a:pt x="3386136" y="4689396"/>
                </a:lnTo>
                <a:lnTo>
                  <a:pt x="0" y="468939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42000"/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665701" y="-693420"/>
            <a:ext cx="2638852" cy="2920259"/>
          </a:xfrm>
          <a:custGeom>
            <a:avLst/>
            <a:gdLst/>
            <a:ahLst/>
            <a:cxnLst/>
            <a:rect l="l" t="t" r="r" b="b"/>
            <a:pathLst>
              <a:path w="2638852" h="2920259">
                <a:moveTo>
                  <a:pt x="0" y="0"/>
                </a:moveTo>
                <a:lnTo>
                  <a:pt x="2638852" y="0"/>
                </a:lnTo>
                <a:lnTo>
                  <a:pt x="2638852" y="2920259"/>
                </a:lnTo>
                <a:lnTo>
                  <a:pt x="0" y="2920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57865" y="1888420"/>
            <a:ext cx="6545941" cy="87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u="sng" dirty="0">
                <a:solidFill>
                  <a:srgbClr val="004B77"/>
                </a:solidFill>
                <a:latin typeface="Margin"/>
                <a:ea typeface="Margin"/>
                <a:cs typeface="Margin"/>
                <a:sym typeface="Margin"/>
              </a:rPr>
              <a:t>Dataset Overview</a:t>
            </a:r>
          </a:p>
        </p:txBody>
      </p:sp>
      <p:sp>
        <p:nvSpPr>
          <p:cNvPr id="3" name="Freeform 3"/>
          <p:cNvSpPr/>
          <p:nvPr/>
        </p:nvSpPr>
        <p:spPr>
          <a:xfrm>
            <a:off x="16129325" y="6078852"/>
            <a:ext cx="4317349" cy="6648878"/>
          </a:xfrm>
          <a:custGeom>
            <a:avLst/>
            <a:gdLst/>
            <a:ahLst/>
            <a:cxnLst/>
            <a:rect l="l" t="t" r="r" b="b"/>
            <a:pathLst>
              <a:path w="4317349" h="6648878">
                <a:moveTo>
                  <a:pt x="0" y="0"/>
                </a:moveTo>
                <a:lnTo>
                  <a:pt x="4317350" y="0"/>
                </a:lnTo>
                <a:lnTo>
                  <a:pt x="4317350" y="6648879"/>
                </a:lnTo>
                <a:lnTo>
                  <a:pt x="0" y="66488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040880" y="-1263649"/>
            <a:ext cx="2283758" cy="2527298"/>
          </a:xfrm>
          <a:custGeom>
            <a:avLst/>
            <a:gdLst/>
            <a:ahLst/>
            <a:cxnLst/>
            <a:rect l="l" t="t" r="r" b="b"/>
            <a:pathLst>
              <a:path w="2283758" h="2527298">
                <a:moveTo>
                  <a:pt x="0" y="0"/>
                </a:moveTo>
                <a:lnTo>
                  <a:pt x="2283758" y="0"/>
                </a:lnTo>
                <a:lnTo>
                  <a:pt x="2283758" y="2527298"/>
                </a:lnTo>
                <a:lnTo>
                  <a:pt x="0" y="25272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882521" y="5657350"/>
            <a:ext cx="4499576" cy="6313181"/>
          </a:xfrm>
          <a:custGeom>
            <a:avLst/>
            <a:gdLst/>
            <a:ahLst/>
            <a:cxnLst/>
            <a:rect l="l" t="t" r="r" b="b"/>
            <a:pathLst>
              <a:path w="4499576" h="6313181">
                <a:moveTo>
                  <a:pt x="0" y="0"/>
                </a:moveTo>
                <a:lnTo>
                  <a:pt x="4499576" y="0"/>
                </a:lnTo>
                <a:lnTo>
                  <a:pt x="4499576" y="6313181"/>
                </a:lnTo>
                <a:lnTo>
                  <a:pt x="0" y="63131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002605" y="-859261"/>
            <a:ext cx="4570790" cy="6172200"/>
          </a:xfrm>
          <a:custGeom>
            <a:avLst/>
            <a:gdLst/>
            <a:ahLst/>
            <a:cxnLst/>
            <a:rect l="l" t="t" r="r" b="b"/>
            <a:pathLst>
              <a:path w="4570790" h="6172200">
                <a:moveTo>
                  <a:pt x="0" y="0"/>
                </a:moveTo>
                <a:lnTo>
                  <a:pt x="4570790" y="0"/>
                </a:lnTo>
                <a:lnTo>
                  <a:pt x="457079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882521" y="-348908"/>
            <a:ext cx="3765042" cy="4114800"/>
          </a:xfrm>
          <a:custGeom>
            <a:avLst/>
            <a:gdLst/>
            <a:ahLst/>
            <a:cxnLst/>
            <a:rect l="l" t="t" r="r" b="b"/>
            <a:pathLst>
              <a:path w="3765042" h="4114800">
                <a:moveTo>
                  <a:pt x="0" y="0"/>
                </a:moveTo>
                <a:lnTo>
                  <a:pt x="3765042" y="0"/>
                </a:lnTo>
                <a:lnTo>
                  <a:pt x="37650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757865" y="8614668"/>
            <a:ext cx="3386135" cy="4689397"/>
          </a:xfrm>
          <a:custGeom>
            <a:avLst/>
            <a:gdLst/>
            <a:ahLst/>
            <a:cxnLst/>
            <a:rect l="l" t="t" r="r" b="b"/>
            <a:pathLst>
              <a:path w="3386135" h="4689397">
                <a:moveTo>
                  <a:pt x="0" y="0"/>
                </a:moveTo>
                <a:lnTo>
                  <a:pt x="3386135" y="0"/>
                </a:lnTo>
                <a:lnTo>
                  <a:pt x="3386135" y="4689396"/>
                </a:lnTo>
                <a:lnTo>
                  <a:pt x="0" y="468939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42000"/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665701" y="-693420"/>
            <a:ext cx="2638852" cy="2920259"/>
          </a:xfrm>
          <a:custGeom>
            <a:avLst/>
            <a:gdLst/>
            <a:ahLst/>
            <a:cxnLst/>
            <a:rect l="l" t="t" r="r" b="b"/>
            <a:pathLst>
              <a:path w="2638852" h="2920259">
                <a:moveTo>
                  <a:pt x="0" y="0"/>
                </a:moveTo>
                <a:lnTo>
                  <a:pt x="2638852" y="0"/>
                </a:lnTo>
                <a:lnTo>
                  <a:pt x="2638852" y="2920259"/>
                </a:lnTo>
                <a:lnTo>
                  <a:pt x="0" y="2920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28700" y="3389466"/>
            <a:ext cx="16649883" cy="5424474"/>
          </a:xfrm>
          <a:custGeom>
            <a:avLst/>
            <a:gdLst/>
            <a:ahLst/>
            <a:cxnLst/>
            <a:rect l="l" t="t" r="r" b="b"/>
            <a:pathLst>
              <a:path w="16649883" h="5424474">
                <a:moveTo>
                  <a:pt x="0" y="0"/>
                </a:moveTo>
                <a:lnTo>
                  <a:pt x="16649883" y="0"/>
                </a:lnTo>
                <a:lnTo>
                  <a:pt x="16649883" y="5424474"/>
                </a:lnTo>
                <a:lnTo>
                  <a:pt x="0" y="542447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3495" r="-18831"/>
            </a:stretch>
          </a:blipFill>
          <a:effectLst>
            <a:innerShdw blurRad="63500" dist="50800" dir="8100000">
              <a:prstClr val="black">
                <a:alpha val="50000"/>
              </a:prstClr>
            </a:innerShdw>
          </a:effectLst>
        </p:spPr>
      </p:sp>
      <p:sp>
        <p:nvSpPr>
          <p:cNvPr id="11" name="TextBox 11"/>
          <p:cNvSpPr txBox="1"/>
          <p:nvPr/>
        </p:nvSpPr>
        <p:spPr>
          <a:xfrm>
            <a:off x="4040880" y="4728495"/>
            <a:ext cx="4528476" cy="373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7"/>
              </a:lnSpc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71030" y="1194609"/>
            <a:ext cx="6545941" cy="87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004B77"/>
                </a:solidFill>
                <a:latin typeface="Margin"/>
                <a:ea typeface="Margin"/>
                <a:cs typeface="Margin"/>
                <a:sym typeface="Margin"/>
              </a:rPr>
              <a:t>Objective</a:t>
            </a:r>
          </a:p>
        </p:txBody>
      </p:sp>
      <p:sp>
        <p:nvSpPr>
          <p:cNvPr id="3" name="Freeform 3"/>
          <p:cNvSpPr/>
          <p:nvPr/>
        </p:nvSpPr>
        <p:spPr>
          <a:xfrm>
            <a:off x="11480350" y="3238048"/>
            <a:ext cx="3765042" cy="4114800"/>
          </a:xfrm>
          <a:custGeom>
            <a:avLst/>
            <a:gdLst/>
            <a:ahLst/>
            <a:cxnLst/>
            <a:rect l="l" t="t" r="r" b="b"/>
            <a:pathLst>
              <a:path w="3765042" h="4114800">
                <a:moveTo>
                  <a:pt x="0" y="0"/>
                </a:moveTo>
                <a:lnTo>
                  <a:pt x="3765042" y="0"/>
                </a:lnTo>
                <a:lnTo>
                  <a:pt x="37650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267200" y="2372965"/>
            <a:ext cx="11503938" cy="5261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13435" lvl="1" indent="-457200" algn="l">
              <a:lnSpc>
                <a:spcPts val="4620"/>
              </a:lnSpc>
              <a:buFont typeface="Wingdings" panose="05000000000000000000" pitchFamily="2" charset="2"/>
              <a:buChar char="q"/>
            </a:pPr>
            <a:r>
              <a:rPr lang="en-US" sz="3300" b="1" spc="36" dirty="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Build a predictive model </a:t>
            </a:r>
            <a:r>
              <a:rPr lang="en-US" sz="3300" spc="36" dirty="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using Python libraries like pandas, </a:t>
            </a:r>
            <a:r>
              <a:rPr lang="en-US" sz="3300" spc="36" dirty="0" err="1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numpy</a:t>
            </a:r>
            <a:r>
              <a:rPr lang="en-US" sz="3300" spc="36" dirty="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, </a:t>
            </a:r>
            <a:r>
              <a:rPr lang="en-US" sz="3300" spc="36" dirty="0" err="1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standarscaler</a:t>
            </a:r>
            <a:r>
              <a:rPr lang="en-US" sz="3300" spc="36" dirty="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, and </a:t>
            </a:r>
            <a:r>
              <a:rPr lang="en-US" sz="3300" spc="36" dirty="0" err="1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LinearRegression</a:t>
            </a:r>
            <a:r>
              <a:rPr lang="en-US" sz="3300" spc="36" dirty="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, </a:t>
            </a:r>
            <a:r>
              <a:rPr lang="en-US" sz="3300" spc="36" dirty="0" err="1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LogisticRegression</a:t>
            </a:r>
            <a:r>
              <a:rPr lang="en-US" sz="3300" spc="36" dirty="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.</a:t>
            </a:r>
          </a:p>
          <a:p>
            <a:pPr marL="813435" lvl="1" indent="-457200" algn="l">
              <a:lnSpc>
                <a:spcPts val="4620"/>
              </a:lnSpc>
              <a:buFont typeface="Wingdings" panose="05000000000000000000" pitchFamily="2" charset="2"/>
              <a:buChar char="q"/>
            </a:pPr>
            <a:r>
              <a:rPr lang="en-US" sz="3300" spc="36" dirty="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Achieve over </a:t>
            </a:r>
            <a:r>
              <a:rPr lang="en-US" sz="3300" b="1" spc="36" dirty="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80-85% accuracy </a:t>
            </a:r>
            <a:r>
              <a:rPr lang="en-US" sz="3300" spc="36" dirty="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on test data.</a:t>
            </a:r>
          </a:p>
          <a:p>
            <a:pPr marL="813435" lvl="1" indent="-457200" algn="l">
              <a:lnSpc>
                <a:spcPts val="4620"/>
              </a:lnSpc>
              <a:buFont typeface="Wingdings" panose="05000000000000000000" pitchFamily="2" charset="2"/>
              <a:buChar char="q"/>
            </a:pPr>
            <a:r>
              <a:rPr lang="en-US" sz="3300" spc="36" dirty="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Visualize insights (e.g., correlation heatmaps, confusion matrices) for better understanding.</a:t>
            </a:r>
          </a:p>
          <a:p>
            <a:pPr marL="813435" lvl="1" indent="-457200" algn="l">
              <a:lnSpc>
                <a:spcPts val="4620"/>
              </a:lnSpc>
              <a:buFont typeface="Wingdings" panose="05000000000000000000" pitchFamily="2" charset="2"/>
              <a:buChar char="q"/>
            </a:pPr>
            <a:r>
              <a:rPr lang="en-US" sz="3300" spc="36" dirty="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Deploy as a simple tool for doctors or users.</a:t>
            </a:r>
          </a:p>
          <a:p>
            <a:pPr marL="813435" lvl="1" indent="-457200" algn="l">
              <a:lnSpc>
                <a:spcPts val="4620"/>
              </a:lnSpc>
              <a:buFont typeface="Wingdings" panose="05000000000000000000" pitchFamily="2" charset="2"/>
              <a:buChar char="q"/>
            </a:pPr>
            <a:r>
              <a:rPr lang="en-US" sz="3300" spc="36" dirty="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Dataset Description</a:t>
            </a:r>
          </a:p>
          <a:p>
            <a:pPr algn="l">
              <a:lnSpc>
                <a:spcPts val="4620"/>
              </a:lnSpc>
            </a:pPr>
            <a:endParaRPr lang="en-US" sz="3300" spc="36" dirty="0">
              <a:solidFill>
                <a:srgbClr val="000000"/>
              </a:solidFill>
              <a:latin typeface="Cooper BT Light"/>
              <a:ea typeface="Cooper BT Light"/>
              <a:cs typeface="Cooper BT Light"/>
              <a:sym typeface="Cooper BT Light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-1176261" y="6403714"/>
            <a:ext cx="3334935" cy="5135924"/>
          </a:xfrm>
          <a:custGeom>
            <a:avLst/>
            <a:gdLst/>
            <a:ahLst/>
            <a:cxnLst/>
            <a:rect l="l" t="t" r="r" b="b"/>
            <a:pathLst>
              <a:path w="3334935" h="5135924">
                <a:moveTo>
                  <a:pt x="0" y="0"/>
                </a:moveTo>
                <a:lnTo>
                  <a:pt x="3334936" y="0"/>
                </a:lnTo>
                <a:lnTo>
                  <a:pt x="3334936" y="5135924"/>
                </a:lnTo>
                <a:lnTo>
                  <a:pt x="0" y="51359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130781" y="-1024716"/>
            <a:ext cx="3718283" cy="4114800"/>
          </a:xfrm>
          <a:custGeom>
            <a:avLst/>
            <a:gdLst/>
            <a:ahLst/>
            <a:cxnLst/>
            <a:rect l="l" t="t" r="r" b="b"/>
            <a:pathLst>
              <a:path w="3718283" h="4114800">
                <a:moveTo>
                  <a:pt x="0" y="0"/>
                </a:moveTo>
                <a:lnTo>
                  <a:pt x="3718282" y="0"/>
                </a:lnTo>
                <a:lnTo>
                  <a:pt x="37182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176261" y="-588344"/>
            <a:ext cx="3050655" cy="4280255"/>
          </a:xfrm>
          <a:custGeom>
            <a:avLst/>
            <a:gdLst/>
            <a:ahLst/>
            <a:cxnLst/>
            <a:rect l="l" t="t" r="r" b="b"/>
            <a:pathLst>
              <a:path w="3050655" h="4280255">
                <a:moveTo>
                  <a:pt x="0" y="0"/>
                </a:moveTo>
                <a:lnTo>
                  <a:pt x="3050655" y="0"/>
                </a:lnTo>
                <a:lnTo>
                  <a:pt x="3050655" y="4280255"/>
                </a:lnTo>
                <a:lnTo>
                  <a:pt x="0" y="42802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475574" y="6403714"/>
            <a:ext cx="4570790" cy="6172200"/>
          </a:xfrm>
          <a:custGeom>
            <a:avLst/>
            <a:gdLst/>
            <a:ahLst/>
            <a:cxnLst/>
            <a:rect l="l" t="t" r="r" b="b"/>
            <a:pathLst>
              <a:path w="4570790" h="6172200">
                <a:moveTo>
                  <a:pt x="0" y="0"/>
                </a:moveTo>
                <a:lnTo>
                  <a:pt x="4570789" y="0"/>
                </a:lnTo>
                <a:lnTo>
                  <a:pt x="4570789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165619" y="7936552"/>
            <a:ext cx="3386135" cy="4689397"/>
          </a:xfrm>
          <a:custGeom>
            <a:avLst/>
            <a:gdLst/>
            <a:ahLst/>
            <a:cxnLst/>
            <a:rect l="l" t="t" r="r" b="b"/>
            <a:pathLst>
              <a:path w="3386135" h="4689397">
                <a:moveTo>
                  <a:pt x="0" y="0"/>
                </a:moveTo>
                <a:lnTo>
                  <a:pt x="3386135" y="0"/>
                </a:lnTo>
                <a:lnTo>
                  <a:pt x="3386135" y="4689396"/>
                </a:lnTo>
                <a:lnTo>
                  <a:pt x="0" y="468939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42000"/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724019" y="-1460129"/>
            <a:ext cx="2638852" cy="2920259"/>
          </a:xfrm>
          <a:custGeom>
            <a:avLst/>
            <a:gdLst/>
            <a:ahLst/>
            <a:cxnLst/>
            <a:rect l="l" t="t" r="r" b="b"/>
            <a:pathLst>
              <a:path w="2638852" h="2920259">
                <a:moveTo>
                  <a:pt x="0" y="0"/>
                </a:moveTo>
                <a:lnTo>
                  <a:pt x="2638852" y="0"/>
                </a:lnTo>
                <a:lnTo>
                  <a:pt x="2638852" y="2920258"/>
                </a:lnTo>
                <a:lnTo>
                  <a:pt x="0" y="2920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7632966" y="8502497"/>
            <a:ext cx="3718283" cy="4114800"/>
          </a:xfrm>
          <a:custGeom>
            <a:avLst/>
            <a:gdLst/>
            <a:ahLst/>
            <a:cxnLst/>
            <a:rect l="l" t="t" r="r" b="b"/>
            <a:pathLst>
              <a:path w="3718283" h="4114800">
                <a:moveTo>
                  <a:pt x="0" y="0"/>
                </a:moveTo>
                <a:lnTo>
                  <a:pt x="3718283" y="0"/>
                </a:lnTo>
                <a:lnTo>
                  <a:pt x="37182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TextBox 2"/>
          <p:cNvSpPr txBox="1"/>
          <p:nvPr/>
        </p:nvSpPr>
        <p:spPr>
          <a:xfrm>
            <a:off x="5871030" y="762545"/>
            <a:ext cx="6545941" cy="87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004B77"/>
                </a:solidFill>
                <a:latin typeface="Margin"/>
                <a:ea typeface="Margin"/>
                <a:cs typeface="Margin"/>
                <a:sym typeface="Margin"/>
              </a:rPr>
              <a:t>Methodology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011259" y="1963624"/>
            <a:ext cx="10606666" cy="8133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1" spc="36" dirty="0">
                <a:solidFill>
                  <a:srgbClr val="0000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Outline your Python workflow step-by-step:</a:t>
            </a:r>
          </a:p>
          <a:p>
            <a:pPr marL="813435" lvl="1" indent="-457200" algn="l">
              <a:lnSpc>
                <a:spcPts val="4620"/>
              </a:lnSpc>
              <a:buFont typeface="Wingdings" panose="05000000000000000000" pitchFamily="2" charset="2"/>
              <a:buChar char="q"/>
            </a:pPr>
            <a:r>
              <a:rPr lang="en-US" sz="3300" b="1" spc="36" dirty="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Data Loading &amp; EDA:</a:t>
            </a:r>
            <a:r>
              <a:rPr lang="en-US" sz="3300" spc="36" dirty="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Import data, use </a:t>
            </a:r>
            <a:r>
              <a:rPr lang="en-US" sz="3300" spc="36" dirty="0" err="1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df.describe</a:t>
            </a:r>
            <a:r>
              <a:rPr lang="en-US" sz="3300" spc="36" dirty="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(), plot histograms/heatmaps for correlations.</a:t>
            </a:r>
          </a:p>
          <a:p>
            <a:pPr marL="813435" lvl="1" indent="-457200" algn="l">
              <a:lnSpc>
                <a:spcPts val="4620"/>
              </a:lnSpc>
              <a:buFont typeface="Wingdings" panose="05000000000000000000" pitchFamily="2" charset="2"/>
              <a:buChar char="q"/>
            </a:pPr>
            <a:r>
              <a:rPr lang="en-US" sz="3300" b="1" spc="36" dirty="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Preprocessing: </a:t>
            </a:r>
            <a:r>
              <a:rPr lang="en-US" sz="3300" spc="36" dirty="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Handle missing values, encode </a:t>
            </a:r>
            <a:r>
              <a:rPr lang="en-US" sz="3300" spc="36" dirty="0" err="1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categoricals</a:t>
            </a:r>
            <a:r>
              <a:rPr lang="en-US" sz="3300" spc="36" dirty="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(</a:t>
            </a:r>
            <a:r>
              <a:rPr lang="en-US" sz="3300" spc="36" dirty="0" err="1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LabelEncoder</a:t>
            </a:r>
            <a:r>
              <a:rPr lang="en-US" sz="3300" spc="36" dirty="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), split train/test (80/20).</a:t>
            </a:r>
          </a:p>
          <a:p>
            <a:pPr marL="813435" lvl="1" indent="-457200" algn="l">
              <a:lnSpc>
                <a:spcPts val="4620"/>
              </a:lnSpc>
              <a:buFont typeface="Wingdings" panose="05000000000000000000" pitchFamily="2" charset="2"/>
              <a:buChar char="q"/>
            </a:pPr>
            <a:r>
              <a:rPr lang="en-US" sz="3300" b="1" spc="36" dirty="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Model Selection: </a:t>
            </a:r>
            <a:r>
              <a:rPr lang="en-US" sz="3300" spc="36" dirty="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Train logistic regression, Linear regression, or random forest; use cross-validation.</a:t>
            </a:r>
          </a:p>
          <a:p>
            <a:pPr marL="813435" lvl="1" indent="-457200" algn="l">
              <a:lnSpc>
                <a:spcPts val="4620"/>
              </a:lnSpc>
              <a:buFont typeface="Wingdings" panose="05000000000000000000" pitchFamily="2" charset="2"/>
              <a:buChar char="q"/>
            </a:pPr>
            <a:r>
              <a:rPr lang="en-US" sz="3300" b="1" spc="36" dirty="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Evaluation: </a:t>
            </a:r>
            <a:r>
              <a:rPr lang="en-US" sz="3300" spc="36" dirty="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Confusion matrix, accuracy score, precision recall </a:t>
            </a:r>
            <a:r>
              <a:rPr lang="en-US" sz="3300" spc="36" dirty="0" err="1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e.g</a:t>
            </a:r>
            <a:r>
              <a:rPr lang="en-US" sz="3300" spc="36" dirty="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, "Achieved 85% accuracy."</a:t>
            </a:r>
            <a:r>
              <a:rPr lang="en-US" sz="3300" u="sng" spc="36" dirty="0" err="1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  <a:hlinkClick r:id="rId4" tooltip="https://www.dataquest.io/blog/predicting-heart-disease-with-machine-learning/"/>
              </a:rPr>
              <a:t>dataquest</a:t>
            </a:r>
            <a:r>
              <a:rPr lang="en-US" sz="3300" spc="36" dirty="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​</a:t>
            </a:r>
          </a:p>
          <a:p>
            <a:pPr marL="813435" lvl="1" indent="-457200" algn="l">
              <a:lnSpc>
                <a:spcPts val="4620"/>
              </a:lnSpc>
              <a:buFont typeface="Wingdings" panose="05000000000000000000" pitchFamily="2" charset="2"/>
              <a:buChar char="q"/>
            </a:pPr>
            <a:r>
              <a:rPr lang="en-US" sz="3300" spc="36" dirty="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Include code snippets (shortened) and output screenshots, like this flow:</a:t>
            </a:r>
          </a:p>
          <a:p>
            <a:pPr marL="457200" indent="-457200" algn="l">
              <a:lnSpc>
                <a:spcPts val="4620"/>
              </a:lnSpc>
              <a:buFont typeface="Wingdings" panose="05000000000000000000" pitchFamily="2" charset="2"/>
              <a:buChar char="q"/>
            </a:pPr>
            <a:endParaRPr lang="en-US" sz="3300" spc="36" dirty="0">
              <a:solidFill>
                <a:srgbClr val="000000"/>
              </a:solidFill>
              <a:latin typeface="Cooper BT Light"/>
              <a:ea typeface="Cooper BT Light"/>
              <a:cs typeface="Cooper BT Light"/>
              <a:sym typeface="Cooper BT Light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6470511" y="-1281440"/>
            <a:ext cx="4317349" cy="6648878"/>
          </a:xfrm>
          <a:custGeom>
            <a:avLst/>
            <a:gdLst/>
            <a:ahLst/>
            <a:cxnLst/>
            <a:rect l="l" t="t" r="r" b="b"/>
            <a:pathLst>
              <a:path w="4317349" h="6648878">
                <a:moveTo>
                  <a:pt x="0" y="0"/>
                </a:moveTo>
                <a:lnTo>
                  <a:pt x="4317349" y="0"/>
                </a:lnTo>
                <a:lnTo>
                  <a:pt x="4317349" y="6648878"/>
                </a:lnTo>
                <a:lnTo>
                  <a:pt x="0" y="66488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611626" y="-442680"/>
            <a:ext cx="4499576" cy="6313181"/>
          </a:xfrm>
          <a:custGeom>
            <a:avLst/>
            <a:gdLst/>
            <a:ahLst/>
            <a:cxnLst/>
            <a:rect l="l" t="t" r="r" b="b"/>
            <a:pathLst>
              <a:path w="4499576" h="6313181">
                <a:moveTo>
                  <a:pt x="0" y="0"/>
                </a:moveTo>
                <a:lnTo>
                  <a:pt x="4499577" y="0"/>
                </a:lnTo>
                <a:lnTo>
                  <a:pt x="4499577" y="6313181"/>
                </a:lnTo>
                <a:lnTo>
                  <a:pt x="0" y="631318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485135" y="1638819"/>
            <a:ext cx="4570790" cy="6172200"/>
          </a:xfrm>
          <a:custGeom>
            <a:avLst/>
            <a:gdLst/>
            <a:ahLst/>
            <a:cxnLst/>
            <a:rect l="l" t="t" r="r" b="b"/>
            <a:pathLst>
              <a:path w="4570790" h="6172200">
                <a:moveTo>
                  <a:pt x="0" y="0"/>
                </a:moveTo>
                <a:lnTo>
                  <a:pt x="4570790" y="0"/>
                </a:lnTo>
                <a:lnTo>
                  <a:pt x="457079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16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726538" y="5870501"/>
            <a:ext cx="3765042" cy="4114800"/>
          </a:xfrm>
          <a:custGeom>
            <a:avLst/>
            <a:gdLst/>
            <a:ahLst/>
            <a:cxnLst/>
            <a:rect l="l" t="t" r="r" b="b"/>
            <a:pathLst>
              <a:path w="3765042" h="4114800">
                <a:moveTo>
                  <a:pt x="0" y="0"/>
                </a:moveTo>
                <a:lnTo>
                  <a:pt x="3765042" y="0"/>
                </a:lnTo>
                <a:lnTo>
                  <a:pt x="37650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1227461" y="5870501"/>
            <a:ext cx="3386135" cy="4689397"/>
          </a:xfrm>
          <a:custGeom>
            <a:avLst/>
            <a:gdLst/>
            <a:ahLst/>
            <a:cxnLst/>
            <a:rect l="l" t="t" r="r" b="b"/>
            <a:pathLst>
              <a:path w="3386135" h="4689397">
                <a:moveTo>
                  <a:pt x="0" y="0"/>
                </a:moveTo>
                <a:lnTo>
                  <a:pt x="3386136" y="0"/>
                </a:lnTo>
                <a:lnTo>
                  <a:pt x="3386136" y="4689396"/>
                </a:lnTo>
                <a:lnTo>
                  <a:pt x="0" y="468939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42000"/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055925" y="-1281440"/>
            <a:ext cx="2638852" cy="2920259"/>
          </a:xfrm>
          <a:custGeom>
            <a:avLst/>
            <a:gdLst/>
            <a:ahLst/>
            <a:cxnLst/>
            <a:rect l="l" t="t" r="r" b="b"/>
            <a:pathLst>
              <a:path w="2638852" h="2920259">
                <a:moveTo>
                  <a:pt x="0" y="0"/>
                </a:moveTo>
                <a:lnTo>
                  <a:pt x="2638852" y="0"/>
                </a:lnTo>
                <a:lnTo>
                  <a:pt x="2638852" y="2920259"/>
                </a:lnTo>
                <a:lnTo>
                  <a:pt x="0" y="29202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51125" y="1857437"/>
            <a:ext cx="6545941" cy="87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dirty="0">
                <a:solidFill>
                  <a:srgbClr val="004B77"/>
                </a:solidFill>
                <a:latin typeface="Margin"/>
                <a:ea typeface="Margin"/>
                <a:cs typeface="Margin"/>
                <a:sym typeface="Margin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675826" y="3452306"/>
            <a:ext cx="10660091" cy="23119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620"/>
              </a:lnSpc>
            </a:pPr>
            <a:r>
              <a:rPr lang="en-US" sz="3300" b="1" spc="36" dirty="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Your model proves ML can predict heart disease reliably, outperforming basic rules. Future: Add real-time web app with </a:t>
            </a:r>
            <a:r>
              <a:rPr lang="en-US" sz="3300" b="1" spc="36" dirty="0" err="1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Streamlit</a:t>
            </a:r>
            <a:r>
              <a:rPr lang="en-US" sz="3300" b="1" spc="36" dirty="0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. This project demonstrates practical Python skills for healthcare AI.</a:t>
            </a:r>
          </a:p>
        </p:txBody>
      </p:sp>
      <p:sp>
        <p:nvSpPr>
          <p:cNvPr id="4" name="Freeform 4"/>
          <p:cNvSpPr/>
          <p:nvPr/>
        </p:nvSpPr>
        <p:spPr>
          <a:xfrm>
            <a:off x="-1143000" y="5597911"/>
            <a:ext cx="4317349" cy="6648878"/>
          </a:xfrm>
          <a:custGeom>
            <a:avLst/>
            <a:gdLst/>
            <a:ahLst/>
            <a:cxnLst/>
            <a:rect l="l" t="t" r="r" b="b"/>
            <a:pathLst>
              <a:path w="4317349" h="6648878">
                <a:moveTo>
                  <a:pt x="0" y="0"/>
                </a:moveTo>
                <a:lnTo>
                  <a:pt x="4317349" y="0"/>
                </a:lnTo>
                <a:lnTo>
                  <a:pt x="4317349" y="6648878"/>
                </a:lnTo>
                <a:lnTo>
                  <a:pt x="0" y="66488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952082" y="593788"/>
            <a:ext cx="2283758" cy="2527298"/>
          </a:xfrm>
          <a:custGeom>
            <a:avLst/>
            <a:gdLst/>
            <a:ahLst/>
            <a:cxnLst/>
            <a:rect l="l" t="t" r="r" b="b"/>
            <a:pathLst>
              <a:path w="2283758" h="2527298">
                <a:moveTo>
                  <a:pt x="0" y="0"/>
                </a:moveTo>
                <a:lnTo>
                  <a:pt x="2283758" y="0"/>
                </a:lnTo>
                <a:lnTo>
                  <a:pt x="2283758" y="2527298"/>
                </a:lnTo>
                <a:lnTo>
                  <a:pt x="0" y="25272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521758" y="5933608"/>
            <a:ext cx="4499576" cy="6313181"/>
          </a:xfrm>
          <a:custGeom>
            <a:avLst/>
            <a:gdLst/>
            <a:ahLst/>
            <a:cxnLst/>
            <a:rect l="l" t="t" r="r" b="b"/>
            <a:pathLst>
              <a:path w="4499576" h="6313181">
                <a:moveTo>
                  <a:pt x="0" y="0"/>
                </a:moveTo>
                <a:lnTo>
                  <a:pt x="4499576" y="0"/>
                </a:lnTo>
                <a:lnTo>
                  <a:pt x="4499576" y="6313181"/>
                </a:lnTo>
                <a:lnTo>
                  <a:pt x="0" y="63131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113492" y="-597270"/>
            <a:ext cx="4570790" cy="6172200"/>
          </a:xfrm>
          <a:custGeom>
            <a:avLst/>
            <a:gdLst/>
            <a:ahLst/>
            <a:cxnLst/>
            <a:rect l="l" t="t" r="r" b="b"/>
            <a:pathLst>
              <a:path w="4570790" h="6172200">
                <a:moveTo>
                  <a:pt x="0" y="0"/>
                </a:moveTo>
                <a:lnTo>
                  <a:pt x="4570790" y="0"/>
                </a:lnTo>
                <a:lnTo>
                  <a:pt x="457079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327537" y="591783"/>
            <a:ext cx="3765042" cy="4114800"/>
          </a:xfrm>
          <a:custGeom>
            <a:avLst/>
            <a:gdLst/>
            <a:ahLst/>
            <a:cxnLst/>
            <a:rect l="l" t="t" r="r" b="b"/>
            <a:pathLst>
              <a:path w="3765042" h="4114800">
                <a:moveTo>
                  <a:pt x="0" y="0"/>
                </a:moveTo>
                <a:lnTo>
                  <a:pt x="3765042" y="0"/>
                </a:lnTo>
                <a:lnTo>
                  <a:pt x="37650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096000" y="6991874"/>
            <a:ext cx="2881797" cy="4095735"/>
          </a:xfrm>
          <a:custGeom>
            <a:avLst/>
            <a:gdLst/>
            <a:ahLst/>
            <a:cxnLst/>
            <a:rect l="l" t="t" r="r" b="b"/>
            <a:pathLst>
              <a:path w="3386135" h="4689397">
                <a:moveTo>
                  <a:pt x="0" y="0"/>
                </a:moveTo>
                <a:lnTo>
                  <a:pt x="3386135" y="0"/>
                </a:lnTo>
                <a:lnTo>
                  <a:pt x="3386135" y="4689396"/>
                </a:lnTo>
                <a:lnTo>
                  <a:pt x="0" y="468939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42000"/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1697066" y="-431429"/>
            <a:ext cx="2638852" cy="2920259"/>
          </a:xfrm>
          <a:custGeom>
            <a:avLst/>
            <a:gdLst/>
            <a:ahLst/>
            <a:cxnLst/>
            <a:rect l="l" t="t" r="r" b="b"/>
            <a:pathLst>
              <a:path w="2638852" h="2920259">
                <a:moveTo>
                  <a:pt x="0" y="0"/>
                </a:moveTo>
                <a:lnTo>
                  <a:pt x="2638852" y="0"/>
                </a:lnTo>
                <a:lnTo>
                  <a:pt x="2638852" y="2920258"/>
                </a:lnTo>
                <a:lnTo>
                  <a:pt x="0" y="29202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739500" y="2814519"/>
            <a:ext cx="10808999" cy="5660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28"/>
              </a:lnSpc>
            </a:pPr>
            <a:r>
              <a:rPr lang="en-US" sz="22297">
                <a:solidFill>
                  <a:srgbClr val="A80B29"/>
                </a:solidFill>
                <a:latin typeface="Kingred Youth"/>
                <a:ea typeface="Kingred Youth"/>
                <a:cs typeface="Kingred Youth"/>
                <a:sym typeface="Kingred Youth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>
            <a:off x="0" y="5413581"/>
            <a:ext cx="4317349" cy="6648878"/>
          </a:xfrm>
          <a:custGeom>
            <a:avLst/>
            <a:gdLst/>
            <a:ahLst/>
            <a:cxnLst/>
            <a:rect l="l" t="t" r="r" b="b"/>
            <a:pathLst>
              <a:path w="4317349" h="6648878">
                <a:moveTo>
                  <a:pt x="0" y="0"/>
                </a:moveTo>
                <a:lnTo>
                  <a:pt x="4317349" y="0"/>
                </a:lnTo>
                <a:lnTo>
                  <a:pt x="4317349" y="6648879"/>
                </a:lnTo>
                <a:lnTo>
                  <a:pt x="0" y="66488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1217" y="0"/>
            <a:ext cx="3718283" cy="4114800"/>
          </a:xfrm>
          <a:custGeom>
            <a:avLst/>
            <a:gdLst/>
            <a:ahLst/>
            <a:cxnLst/>
            <a:rect l="l" t="t" r="r" b="b"/>
            <a:pathLst>
              <a:path w="3718283" h="4114800">
                <a:moveTo>
                  <a:pt x="0" y="0"/>
                </a:moveTo>
                <a:lnTo>
                  <a:pt x="3718283" y="0"/>
                </a:lnTo>
                <a:lnTo>
                  <a:pt x="37182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558699" y="6246701"/>
            <a:ext cx="4499576" cy="6313181"/>
          </a:xfrm>
          <a:custGeom>
            <a:avLst/>
            <a:gdLst/>
            <a:ahLst/>
            <a:cxnLst/>
            <a:rect l="l" t="t" r="r" b="b"/>
            <a:pathLst>
              <a:path w="4499576" h="6313181">
                <a:moveTo>
                  <a:pt x="0" y="0"/>
                </a:moveTo>
                <a:lnTo>
                  <a:pt x="4499577" y="0"/>
                </a:lnTo>
                <a:lnTo>
                  <a:pt x="4499577" y="6313181"/>
                </a:lnTo>
                <a:lnTo>
                  <a:pt x="0" y="63131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454049" y="-1028700"/>
            <a:ext cx="4570790" cy="6172200"/>
          </a:xfrm>
          <a:custGeom>
            <a:avLst/>
            <a:gdLst/>
            <a:ahLst/>
            <a:cxnLst/>
            <a:rect l="l" t="t" r="r" b="b"/>
            <a:pathLst>
              <a:path w="4570790" h="6172200">
                <a:moveTo>
                  <a:pt x="0" y="0"/>
                </a:moveTo>
                <a:lnTo>
                  <a:pt x="4570790" y="0"/>
                </a:lnTo>
                <a:lnTo>
                  <a:pt x="457079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676380" y="-2057400"/>
            <a:ext cx="3765042" cy="4114800"/>
          </a:xfrm>
          <a:custGeom>
            <a:avLst/>
            <a:gdLst/>
            <a:ahLst/>
            <a:cxnLst/>
            <a:rect l="l" t="t" r="r" b="b"/>
            <a:pathLst>
              <a:path w="3765042" h="4114800">
                <a:moveTo>
                  <a:pt x="0" y="0"/>
                </a:moveTo>
                <a:lnTo>
                  <a:pt x="3765042" y="0"/>
                </a:lnTo>
                <a:lnTo>
                  <a:pt x="37650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619061" y="8529086"/>
            <a:ext cx="3386135" cy="4689397"/>
          </a:xfrm>
          <a:custGeom>
            <a:avLst/>
            <a:gdLst/>
            <a:ahLst/>
            <a:cxnLst/>
            <a:rect l="l" t="t" r="r" b="b"/>
            <a:pathLst>
              <a:path w="3386135" h="4689397">
                <a:moveTo>
                  <a:pt x="0" y="0"/>
                </a:moveTo>
                <a:lnTo>
                  <a:pt x="3386135" y="0"/>
                </a:lnTo>
                <a:lnTo>
                  <a:pt x="3386135" y="4689397"/>
                </a:lnTo>
                <a:lnTo>
                  <a:pt x="0" y="468939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42000"/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665701" y="-693420"/>
            <a:ext cx="2638852" cy="2920259"/>
          </a:xfrm>
          <a:custGeom>
            <a:avLst/>
            <a:gdLst/>
            <a:ahLst/>
            <a:cxnLst/>
            <a:rect l="l" t="t" r="r" b="b"/>
            <a:pathLst>
              <a:path w="2638852" h="2920259">
                <a:moveTo>
                  <a:pt x="0" y="0"/>
                </a:moveTo>
                <a:lnTo>
                  <a:pt x="2638852" y="0"/>
                </a:lnTo>
                <a:lnTo>
                  <a:pt x="2638852" y="2920259"/>
                </a:lnTo>
                <a:lnTo>
                  <a:pt x="0" y="2920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335</Words>
  <Application>Microsoft Office PowerPoint</Application>
  <PresentationFormat>Custom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Cooper BT Bold</vt:lpstr>
      <vt:lpstr>Cooper BT Light</vt:lpstr>
      <vt:lpstr>Alice</vt:lpstr>
      <vt:lpstr>Wingdings</vt:lpstr>
      <vt:lpstr>Kingred Youth</vt:lpstr>
      <vt:lpstr>Arial</vt:lpstr>
      <vt:lpstr>Margin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Disease Predication</dc:title>
  <cp:lastModifiedBy>Master .</cp:lastModifiedBy>
  <cp:revision>7</cp:revision>
  <dcterms:created xsi:type="dcterms:W3CDTF">2006-08-16T00:00:00Z</dcterms:created>
  <dcterms:modified xsi:type="dcterms:W3CDTF">2026-01-31T10:25:02Z</dcterms:modified>
  <dc:identifier>DAG_7Gvi70I</dc:identifier>
</cp:coreProperties>
</file>